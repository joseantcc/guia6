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laboratorio 06. Cada integrante presenta la mitad de las diapositivas.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qué se hizo y con qué datos. La serie es una senoide, una señal simple a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el talón de Aquiles de la RNN (gradiente desvanecido) y cómo lo aborda la LSTM.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 0: ventanas, eje 1: pasos temporales, eje 2: variables por paso.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RNN: h(in+h)+2h. LSTM: cuatro veces eso. Más h(+1) de la capa lineal.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gráfica. La teoría predice peor desempeño con 50 pasos y no ocurrió; explicar por qué. Se ven oscilaciones en la pérdida.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Izquierda: curvas de pérdida. Derecha: las predicciones se ven casi idénticas; la ventaja de la LSTM es cuantitativa.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sobreinterpretar el experimento. Mencionar las limitaciones.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85"/>
            <a:ext cx="10566400" cy="4424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85"/>
            <a:ext cx="10566400" cy="4424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701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88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Artificial · Laboratorio 06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08527"/>
            <a:ext cx="11379200" cy="718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 simple vs LSTM en PyTorch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555912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 de una serie temporal con redes recurrentes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140112"/>
            <a:ext cx="10883392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88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Condori Cruz, José Antonio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88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Gonzales Ibáñez, José Antonio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y datos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60"/>
            <a:ext cx="3380317" cy="1904824"/>
          </a:xfrm>
          <a:prstGeom prst="roundRect">
            <a:avLst>
              <a:gd name="adj" fmla="val 5167"/>
            </a:avLst>
          </a:prstGeom>
          <a:solidFill>
            <a:srgbClr val="FFFFFF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2444" y="1880129"/>
            <a:ext cx="2953399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45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2444" y="2243314"/>
            <a:ext cx="2953399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y comparar una RNN simple y una LSTM en PyTorch, y subir el proyecto a GitHub.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42" y="1623660"/>
            <a:ext cx="3380317" cy="1904824"/>
          </a:xfrm>
          <a:prstGeom prst="roundRect">
            <a:avLst>
              <a:gd name="adj" fmla="val 5167"/>
            </a:avLst>
          </a:prstGeom>
          <a:solidFill>
            <a:srgbClr val="FFFFFF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311" y="1880129"/>
            <a:ext cx="2953399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45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2311" y="2243314"/>
            <a:ext cx="2953399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sintética sin(t), con t de 0 a 50 y 600 puntos.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708" y="1623660"/>
            <a:ext cx="3380317" cy="1904824"/>
          </a:xfrm>
          <a:prstGeom prst="roundRect">
            <a:avLst>
              <a:gd name="adj" fmla="val 5167"/>
            </a:avLst>
          </a:prstGeom>
          <a:solidFill>
            <a:srgbClr val="FFFFFF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178" y="1880129"/>
            <a:ext cx="2953399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45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2178" y="2243314"/>
            <a:ext cx="2953399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Many-to-One: con las últimas 10 o 50 muestras, predecir la siguiente.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06 · RNN vs LSTM · 2 / 9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61"/>
            <a:ext cx="5175250" cy="1904824"/>
          </a:xfrm>
          <a:prstGeom prst="roundRect">
            <a:avLst>
              <a:gd name="adj" fmla="val 5167"/>
            </a:avLst>
          </a:prstGeom>
          <a:solidFill>
            <a:srgbClr val="1A2B44"/>
          </a:solidFill>
          <a:ln w="6350">
            <a:solidFill>
              <a:srgbClr val="2C41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2444" y="1880129"/>
            <a:ext cx="480218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 simple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2444" y="2243314"/>
            <a:ext cx="480218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 la secuencia paso a paso con un estado oculto h_t que actúa como memoria y reutiliza los mismos pesos. Con secuencias largas, el gradiente puede desvanecerse.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61"/>
            <a:ext cx="5175250" cy="1904824"/>
          </a:xfrm>
          <a:prstGeom prst="roundRect">
            <a:avLst>
              <a:gd name="adj" fmla="val 5167"/>
            </a:avLst>
          </a:prstGeom>
          <a:solidFill>
            <a:srgbClr val="1A2B44"/>
          </a:solidFill>
          <a:ln w="6350">
            <a:solidFill>
              <a:srgbClr val="2C41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7245" y="1880129"/>
            <a:ext cx="480218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7245" y="2243314"/>
            <a:ext cx="4802180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Añade una celda de memoria y tres compuertas (olvido, entrada y salida) que regulan qué se guarda y qué se descarta. El gradiente fluye con menos pérdida.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06 · RNN vs LSTM · 3 / 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dimensiones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631774"/>
          <a:ext cx="10555111" cy="1924756"/>
        </p:xfrm>
        <a:graphic>
          <a:graphicData uri="http://schemas.openxmlformats.org/drawingml/2006/table">
            <a:tbl>
              <a:tblPr/>
              <a:tblGrid>
                <a:gridCol w="3518370"/>
                <a:gridCol w="3518370"/>
                <a:gridCol w="3518370"/>
              </a:tblGrid>
              <a:tr h="48118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B45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Tensor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B45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B45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Significado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48118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 (SEQ_LEN=10)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[590, 10, 1]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[Batch, Secuencia, Features]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18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 (SEQ_LEN=50)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[550, 50, 1]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600 − SEQ_LEN ventanas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18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[N, 1]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siguiente a predecir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861329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recurrente (hidden = 16) → último paso temporal → Linear(16, 1). MSE, Adam (lr 0,01), 100 épocas, 80 % entrenamiento y 20 % prueba.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06 · RNN vs LSTM · 4 / 9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Parámetros entrenables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631773"/>
          <a:ext cx="10555111" cy="1710267"/>
        </p:xfrm>
        <a:graphic>
          <a:graphicData uri="http://schemas.openxmlformats.org/drawingml/2006/table">
            <a:tbl>
              <a:tblPr/>
              <a:tblGrid>
                <a:gridCol w="3518370"/>
                <a:gridCol w="3518370"/>
                <a:gridCol w="3518370"/>
              </a:tblGrid>
              <a:tr h="570089">
                <a:tc>
                  <a:txBody>
                    <a:bodyPr/>
                    <a:lstStyle/>
                    <a:p>
                      <a:pPr indent="0" marL="0">
                        <a:lnSpc>
                          <a:spcPts val="28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E888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hidden_size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8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E888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RNN simple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8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E888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LSTM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</a:tr>
              <a:tr h="570089">
                <a:tc>
                  <a:txBody>
                    <a:bodyPr/>
                    <a:lstStyle/>
                    <a:p>
                      <a:pPr indent="0" marL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1233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0089">
                <a:tc>
                  <a:txBody>
                    <a:bodyPr/>
                    <a:lstStyle/>
                    <a:p>
                      <a:pPr indent="0" marL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4353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800"/>
                        </a:lnSpc>
                        <a:buNone/>
                      </a:pPr>
                      <a:r>
                        <a:rPr lang="en-US" sz="2000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17217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646841"/>
            <a:ext cx="10883392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pasar de 16 a 64 los parámetros se multiplican por ~14, porque crecen con h². La LSTM tiene ~3,8 veces más parámetros que la RNN (cuatro bloques de pesos).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06 · RNN vs LSTM · 5 / 9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RNN: secuencia de 10 vs 50 pasos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955976"/>
          <a:ext cx="4560711" cy="1367367"/>
        </p:xfrm>
        <a:graphic>
          <a:graphicData uri="http://schemas.openxmlformats.org/drawingml/2006/table">
            <a:tbl>
              <a:tblPr/>
              <a:tblGrid>
                <a:gridCol w="1520237"/>
                <a:gridCol w="1520237"/>
                <a:gridCol w="1520237"/>
              </a:tblGrid>
              <a:tr h="45578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B45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SEQ_LEN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B45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train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B453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MSE test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45578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0,000392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0,000402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78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0,000100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0,000111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501144"/>
            <a:ext cx="4709160" cy="1020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Alargar la ventana no empeoró la RNN: la mejoró (~3,6 veces menos error). La senoide es simple y 50 pasos es aún moderado, así que no apareció el gradiente desvanecido.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689600" y="1620484"/>
            <a:ext cx="5689600" cy="32004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</p:spPr>
      </p:sp>
      <p:pic>
        <p:nvPicPr>
          <p:cNvPr id="6" name="Image 0" descr="Curvas de pérdida de la RNN con SEQ_LEN 10 y 5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89600" y="1620484"/>
            <a:ext cx="5689600" cy="3200400"/>
          </a:xfrm>
          <a:prstGeom prst="roundRect">
            <a:avLst>
              <a:gd name="adj" fmla="val 2381"/>
            </a:avLst>
          </a:prstGeom>
        </p:spPr>
      </p:pic>
      <p:sp>
        <p:nvSpPr>
          <p:cNvPr id="7" name="Text 3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06 · RNN vs LSTM · 6 / 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Reto: RNN vs LSTM (50 pasos)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684"/>
            <a:ext cx="5181600" cy="2914650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/>
        </p:spPr>
      </p:sp>
      <p:pic>
        <p:nvPicPr>
          <p:cNvPr id="4" name="Image 0" descr="Convergencia de la pérdida: RNN simple vs LST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569684"/>
            <a:ext cx="5181600" cy="2914650"/>
          </a:xfrm>
          <a:prstGeom prst="roundRect">
            <a:avLst>
              <a:gd name="adj" fmla="val 2614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6197600" y="1569684"/>
            <a:ext cx="5181600" cy="25908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</p:spPr>
      </p:sp>
      <p:pic>
        <p:nvPicPr>
          <p:cNvPr id="6" name="Image 1" descr="Predicciones de ambos modelos en el conjunto de prueba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7600" y="1569684"/>
            <a:ext cx="5181600" cy="2590800"/>
          </a:xfrm>
          <a:prstGeom prst="roundRect">
            <a:avLst>
              <a:gd name="adj" fmla="val 2941"/>
            </a:avLst>
          </a:prstGeom>
        </p:spPr>
      </p:pic>
      <p:sp>
        <p:nvSpPr>
          <p:cNvPr id="7" name="Text 3"/>
          <p:cNvSpPr/>
          <p:nvPr/>
        </p:nvSpPr>
        <p:spPr>
          <a:xfrm>
            <a:off x="812800" y="4738334"/>
            <a:ext cx="10883392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 de prueba: </a:t>
            </a:r>
            <a:r>
              <a:rPr lang="en-US" sz="1600" b="1" dirty="0">
                <a:solidFill>
                  <a:srgbClr val="E88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0,000033</a:t>
            </a:r>
            <a:r>
              <a:rPr lang="en-US" sz="16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frente a RNN 0,000111, es decir 3,4× menos error. La RNN converge antes pero oscila; la LSTM la alcanza hacia la época 65-70 y sigue mejorando.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06 · RNN vs LSTM · 7 / 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59"/>
            <a:ext cx="3380317" cy="2161999"/>
          </a:xfrm>
          <a:prstGeom prst="roundRect">
            <a:avLst>
              <a:gd name="adj" fmla="val 4552"/>
            </a:avLst>
          </a:prstGeom>
          <a:solidFill>
            <a:srgbClr val="FFFFFF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2444" y="1880130"/>
            <a:ext cx="2953399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45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gana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2444" y="2243314"/>
            <a:ext cx="2953399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ajuste y convergencia más estable con 50 pasos, a cambio de ~3,8 veces más parámetros.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42" y="1623659"/>
            <a:ext cx="3380317" cy="2161999"/>
          </a:xfrm>
          <a:prstGeom prst="roundRect">
            <a:avLst>
              <a:gd name="adj" fmla="val 4552"/>
            </a:avLst>
          </a:prstGeom>
          <a:solidFill>
            <a:srgbClr val="FFFFFF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311" y="1880130"/>
            <a:ext cx="2953399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45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 no colapsó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2311" y="2243314"/>
            <a:ext cx="2953399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una senoide y 50 pasos no se vio gradiente desvanecido; es una tarea fácil.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708" y="1623659"/>
            <a:ext cx="3380317" cy="2161999"/>
          </a:xfrm>
          <a:prstGeom prst="roundRect">
            <a:avLst>
              <a:gd name="adj" fmla="val 4552"/>
            </a:avLst>
          </a:prstGeom>
          <a:solidFill>
            <a:srgbClr val="FFFFFF"/>
          </a:solidFill>
          <a:ln w="6350">
            <a:solidFill>
              <a:srgbClr val="D9D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178" y="1880130"/>
            <a:ext cx="2953399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453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2178" y="2243314"/>
            <a:ext cx="2953399" cy="13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semilla, 100 épocas, y parte de la ventaja puede ser capacidad. Falta probar más semillas y secuencias más largas.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3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06 · RNN vs LSTM · 8 / 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y cierre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484"/>
            <a:ext cx="10883392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88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github.com/JoseAntCC/practica-rnn-pytorch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2316429"/>
            <a:ext cx="1088339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practica_rnn.py, README.md con el análisis, .gitignore, gráficas y resultados.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945079"/>
            <a:ext cx="10883392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 ¿Preguntas?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12800" y="3747647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Condori Cruz, José Antonio · Gonzales Ibáñez, José Antonio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1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06 · RNN vs LSTM · 9 / 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NN vs LSTM en PyTorch - Laboratorio 06">
  <a:themeElements>
    <a:clrScheme name="RNN vs LSTM en PyTorch - Laboratorio 06">
      <a:dk1>
        <a:srgbClr val="0F1B2D"/>
      </a:dk1>
      <a:lt1>
        <a:srgbClr val="F4F1EA"/>
      </a:lt1>
      <a:dk2>
        <a:srgbClr val="263040"/>
      </a:dk2>
      <a:lt2>
        <a:srgbClr val="BBBCBB"/>
      </a:lt2>
      <a:accent1>
        <a:srgbClr val="B4531A"/>
      </a:accent1>
      <a:accent2>
        <a:srgbClr val="E8884A"/>
      </a:accent2>
      <a:accent3>
        <a:srgbClr val="9AA0A6"/>
      </a:accent3>
      <a:accent4>
        <a:srgbClr val="989B9E"/>
      </a:accent4>
      <a:accent5>
        <a:srgbClr val="767B82"/>
      </a:accent5>
      <a:accent6>
        <a:srgbClr val="545B66"/>
      </a:accent6>
      <a:hlink>
        <a:srgbClr val="0563C1"/>
      </a:hlink>
      <a:folHlink>
        <a:srgbClr val="954F72"/>
      </a:folHlink>
    </a:clrScheme>
    <a:fontScheme name="RNN vs LSTM en PyTorch - Laboratorio 06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RNN vs LSTM en PyTorch - Laboratorio 06</dc:title>
  <dc:subject/>
  <dc:creator/>
  <cp:lastModifiedBy/>
  <cp:revision>1</cp:revision>
  <dcterms:created xsi:type="dcterms:W3CDTF">2026-10-24T01:15:03Z</dcterms:created>
  <dcterms:modified xsi:type="dcterms:W3CDTF">2026-10-24T01:15:03Z</dcterms:modified>
</cp:coreProperties>
</file>